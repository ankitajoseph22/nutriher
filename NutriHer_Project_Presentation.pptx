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AI-Assisted Women's Nutrition &amp; Bioavailable Iron Optimization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Project Vision &amp; Core Premise: </a:t>
            </a:r>
            <a:r>
              <a:rPr sz="1200">
                <a:solidFill>
                  <a:srgbClr val="334155"/>
                </a:solidFill>
                <a:latin typeface="Calibri"/>
              </a:rPr>
              <a:t>NutriHer is an end-to-end intelligent nutrition platform designed to address dietary iron deficiency in Indian women by integrating computer vision food recognition with menstrual-cycle-aware iron bioavailability calculations.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Algorithmic Paradigm Shift: </a:t>
            </a:r>
            <a:r>
              <a:rPr sz="1200">
                <a:solidFill>
                  <a:srgbClr val="334155"/>
                </a:solidFill>
                <a:latin typeface="Calibri"/>
              </a:rPr>
              <a:t>Traditional nutrition trackers assume static daily targets and 100% absorption. NutriHer dynamically personalizes dietary targets based on menstrual cycle phase, flow volume, and meal-level bioavailability modulators.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Academic &amp; Engineering Rigor: </a:t>
            </a:r>
            <a:r>
              <a:rPr sz="1200">
                <a:solidFill>
                  <a:srgbClr val="334155"/>
                </a:solidFill>
                <a:latin typeface="Calibri"/>
              </a:rPr>
              <a:t>Combines an 80-class EfficientNet-B0 deep neural network (87.89% validation accuracy) with the ICMR-NIN 2020 RDA guidelines (29.0 mg/day baseline) and the Indian Food Composition Tables (IFCT 2017).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Demonstration &amp; Ethical Safeguards: </a:t>
            </a:r>
            <a:r>
              <a:rPr sz="1200">
                <a:solidFill>
                  <a:srgbClr val="334155"/>
                </a:solidFill>
                <a:latin typeface="Calibri"/>
              </a:rPr>
              <a:t>Engineered as an educational, non-diagnostic decision-support tool. It clearly distinguishes published population literature from project-level modelling assumptions without prescribing clinical treatments.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Problem Statement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Epidemiological Burden in India: </a:t>
            </a:r>
            <a:r>
              <a:rPr sz="1200">
                <a:solidFill>
                  <a:srgbClr val="334155"/>
                </a:solidFill>
                <a:latin typeface="Calibri"/>
              </a:rPr>
              <a:t>According to NFHS-5, over 57% of Indian women of reproductive age suffer from anemia. Traditional cereal- and pulse-heavy diets contain predominantly non-heme iron with high concentrations of phytates and polyphenols.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The Bioavailability Paradox: </a:t>
            </a:r>
            <a:r>
              <a:rPr sz="1200">
                <a:solidFill>
                  <a:srgbClr val="334155"/>
                </a:solidFill>
                <a:latin typeface="Calibri"/>
              </a:rPr>
              <a:t>Dietary iron intake does not equal absorbed physiological iron. Non-heme plant iron exhibits low baseline absorption (5–10%) that fluctuates drastically depending on concurrent meal constituents like ascorbic acid and calcium.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Limitations of Static RDAs: </a:t>
            </a:r>
            <a:r>
              <a:rPr sz="1200">
                <a:solidFill>
                  <a:srgbClr val="334155"/>
                </a:solidFill>
                <a:latin typeface="Calibri"/>
              </a:rPr>
              <a:t>Standard population guidelines establish a uniform 28-day cycle average (29.0 mg/day ICMR 2020). However, women experience episodic blood losses during menses requiring dynamic phase-specific nutritional planning.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Need for Context-Aware AI: </a:t>
            </a:r>
            <a:r>
              <a:rPr sz="1200">
                <a:solidFill>
                  <a:srgbClr val="334155"/>
                </a:solidFill>
                <a:latin typeface="Calibri"/>
              </a:rPr>
              <a:t>Existing calorie counters fail to model micronutrient absorption or biological rhythms. NutriHer bridges this gap by marrying computer vision recognition with evidence-informed physiological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Image Capture &amp; CNN Classification: </a:t>
            </a:r>
            <a:r>
              <a:rPr sz="1200">
                <a:solidFill>
                  <a:srgbClr val="334155"/>
                </a:solidFill>
                <a:latin typeface="Calibri"/>
              </a:rPr>
              <a:t>User uploads a food photograph processed through an EfficientNet-B0 model trained on the Khana Indian Cuisine dataset (80 classes, 131,819 images), generating Top-1 and Top-5 class probability distributions.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Nutrient Extraction &amp; Recipe Modeling: </a:t>
            </a:r>
            <a:r>
              <a:rPr sz="1200">
                <a:solidFill>
                  <a:srgbClr val="334155"/>
                </a:solidFill>
                <a:latin typeface="Calibri"/>
              </a:rPr>
              <a:t>Maps predicted dish to the ICMR-NIN IFCT 2017 database, scaling values linearly for portion weight and distinguishing direct assays from composite recipe ingredient proportions.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Bioavailability Modulation Engine: </a:t>
            </a:r>
            <a:r>
              <a:rPr sz="1200">
                <a:solidFill>
                  <a:srgbClr val="334155"/>
                </a:solidFill>
                <a:latin typeface="Calibri"/>
              </a:rPr>
              <a:t>Evaluates the meal matrix for non-heme baseline (8%), heme baseline (25%), ascorbic acid reduction enhancers (+2%/+5%), and calcium competitive inhibitors (-2%) to compute actual absorbed iron.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Dynamic Target &amp; Wellness Interface: </a:t>
            </a:r>
            <a:r>
              <a:rPr sz="1200">
                <a:solidFill>
                  <a:srgbClr val="334155"/>
                </a:solidFill>
                <a:latin typeface="Calibri"/>
              </a:rPr>
              <a:t>FastAPI backend recalculates daily targets against the user's cycle phase, delivering real-time visualizations (radial absorption rings, phase timelines) via a responsive React/Vite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Deep Learning Computer Vision Subsystem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EfficientNet-B0 Backbone Architecture: </a:t>
            </a:r>
            <a:r>
              <a:rPr sz="1200">
                <a:solidFill>
                  <a:srgbClr val="334155"/>
                </a:solidFill>
                <a:latin typeface="Calibri"/>
              </a:rPr>
              <a:t>Selected for optimal trade-off between computational latency (5.3M parameters) and feature extraction capacity. Utilizes compound scaling across depth, width, and resolution (224x224 input).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Dataset Characteristics &amp; Preprocessing: </a:t>
            </a:r>
            <a:r>
              <a:rPr sz="1200">
                <a:solidFill>
                  <a:srgbClr val="334155"/>
                </a:solidFill>
                <a:latin typeface="Calibri"/>
              </a:rPr>
              <a:t>Trained on 131,819 balanced images across 80 diverse Indian cuisine categories using transfer learning, PyTorch AutoAugment, standard ImageNet normalization (mean=[0.485, 0.456, 0.406]), and AdamW optimization.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Empirical Validation Performance: </a:t>
            </a:r>
            <a:r>
              <a:rPr sz="1200">
                <a:solidFill>
                  <a:srgbClr val="334155"/>
                </a:solidFill>
                <a:latin typeface="Calibri"/>
              </a:rPr>
              <a:t>Achieved 87.89% validation accuracy on held-out test splits. Addressed live single-image classification collapse by enforcing exact label-index mapping synchronization between training and runtime checkpoints.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Top-5 Softmax Candidate Mitigation: </a:t>
            </a:r>
            <a:r>
              <a:rPr sz="1200">
                <a:solidFill>
                  <a:srgbClr val="334155"/>
                </a:solidFill>
                <a:latin typeface="Calibri"/>
              </a:rPr>
              <a:t>To handle visually ambiguous gravies and composite dishes without arbitrary hard-coding, the user interface exposes the Top-5 prediction candidates with confidence scores for transparent confirmation.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Food Composition &amp; Bioavailability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ICMR-NIN IFCT 2017 Dataset Integration: </a:t>
            </a:r>
            <a:r>
              <a:rPr sz="1200">
                <a:solidFill>
                  <a:srgbClr val="334155"/>
                </a:solidFill>
                <a:latin typeface="Calibri"/>
              </a:rPr>
              <a:t>Nutritional values for iron, vitamin C, calcium, protein, and energy are sourced from official IFCT 2017 chemical assays. Direct staple foods use direct assays, while composite dishes use recipe-weighted derivations.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Biochemical Iron Speciation: </a:t>
            </a:r>
            <a:r>
              <a:rPr sz="1200">
                <a:solidFill>
                  <a:srgbClr val="334155"/>
                </a:solidFill>
                <a:latin typeface="Calibri"/>
              </a:rPr>
              <a:t>Differentiates heme iron (animal tissue, 20–30% baseline via HCP1) from non-heme iron (plant/dairy, 5–10% baseline via DMT1). Traditional Indian vegetarian dishes are initialized at the ICMR standard 8.0% absorption rate.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Ascorbic Acid (Vitamin C) Enhancement: </a:t>
            </a:r>
            <a:r>
              <a:rPr sz="1200">
                <a:solidFill>
                  <a:srgbClr val="334155"/>
                </a:solidFill>
                <a:latin typeface="Calibri"/>
              </a:rPr>
              <a:t>Implements Hallberg's ferric reduction principles: Vitamin C keeps non-heme iron in the soluble Fe2+ state, modeled as discrete heuristics (+2.0% for &gt;5 mg Vit C; +5.0% for &gt;20 mg Vit C).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Calcium Inhibition &amp; Modulator Logic: </a:t>
            </a:r>
            <a:r>
              <a:rPr sz="1200">
                <a:solidFill>
                  <a:srgbClr val="334155"/>
                </a:solidFill>
                <a:latin typeface="Calibri"/>
              </a:rPr>
              <a:t>High meal calcium (&gt;150 mg) competitively inhibits DMT1 mucosal transport, modeled as a -2.0% absorption reduction, with strict biological bounding between 3.0% and 18.0% for non-heme foods.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Menstrual Cycle Modeling &amp; Basal Physiology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Obligatory Basal Iron Loss Derivation: </a:t>
            </a:r>
            <a:r>
              <a:rPr sz="1200">
                <a:solidFill>
                  <a:srgbClr val="334155"/>
                </a:solidFill>
                <a:latin typeface="Calibri"/>
              </a:rPr>
              <a:t>Green et al. (1968) and ICMR-NIN (2020) establish basal excretion (skin, sweat, GI sloughing) at 14 µg/kg/day. For the reference 55 kg Indian female, basal loss is 0.014 * 55 = 0.77 mg/day, rounded to 0.80 mg/day.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Menstrual Blood Loss Distribution: </a:t>
            </a:r>
            <a:r>
              <a:rPr sz="1200">
                <a:solidFill>
                  <a:srgbClr val="334155"/>
                </a:solidFill>
                <a:latin typeface="Calibri"/>
              </a:rPr>
              <a:t>Hallberg et al. (1966) radioisotope studies quantify mean menstrual blood loss at 30–40 mL/cycle (~15–20 mg elemental iron), with the 95th percentile exceeding 60–80 mL (~30–40 mg elemental iron).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Cycle-Phase Specific Increments: </a:t>
            </a:r>
            <a:r>
              <a:rPr sz="1200">
                <a:solidFill>
                  <a:srgbClr val="334155"/>
                </a:solidFill>
                <a:latin typeface="Calibri"/>
              </a:rPr>
              <a:t>NutriHer models phase context by adding absorbed increments: Menstruation (+1.90 mg/day peak demand), Follicular (+0.90 mg/day recovery), Ovulation (+0.40 mg/day), and Luteal (+0.60 mg/day pre-menstrual).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Bleeding Intensity Scaling Factors: </a:t>
            </a:r>
            <a:r>
              <a:rPr sz="1200">
                <a:solidFill>
                  <a:srgbClr val="334155"/>
                </a:solidFill>
                <a:latin typeface="Calibri"/>
              </a:rPr>
              <a:t>Self-reported bleeding volume modulates menses and follicular increments using calibrated multipliers: Light (0.75x), Moderate (1.00x), and Heavy (1.35x), reflecting non-Gaussian population variance.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Dynamic Iron Target Formulation &amp; Derivation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Mathematical Mass-Balance Formulation: </a:t>
            </a:r>
            <a:r>
              <a:rPr sz="1200">
                <a:solidFill>
                  <a:srgbClr val="334155"/>
                </a:solidFill>
                <a:latin typeface="Calibri"/>
              </a:rPr>
              <a:t>Modelled Dietary Target (mg/day) = [Basal Loss (0.80 mg) + (Phase Increment * Flow Multiplier)] / Dietary Bioavailability Factor. Converts physiological absorbed requirements into actionable dietary targets.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Lifecycle Group &amp; ICMR 2020 Standards: </a:t>
            </a:r>
            <a:r>
              <a:rPr sz="1200">
                <a:solidFill>
                  <a:srgbClr val="334155"/>
                </a:solidFill>
                <a:latin typeface="Calibri"/>
              </a:rPr>
              <a:t>Evaluates user into official ICMR brackets: Adults (18–59 yrs: 29.0 mg RDA), Adolescents (10–12 yrs: 16.0 mg; 13–15 yrs: 29.0 mg; 16–17 yrs: 26.0 mg), Pregnancy (27.0 mg @ 12% bioavailability), Lactation (23.0 mg), and Post-Menopausal (15.0 mg).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Multi-Phase Daily Dynamic Profile (23yo Vegetarian): </a:t>
            </a:r>
            <a:r>
              <a:rPr sz="1200">
                <a:solidFill>
                  <a:srgbClr val="334155"/>
                </a:solidFill>
                <a:latin typeface="Calibri"/>
              </a:rPr>
              <a:t>Menstruation: (0.80 + 1.90) / 0.08 = 33.8 mg/day. Follicular: (0.80 + 0.90) / 0.08 = 21.2 mg/day. Ovulation: (0.80 + 0.40) / 0.08 = 15.0 mg/day. Luteal: (0.80 + 0.60) / 0.08 = 17.5 mg/day.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28-Day Cycle Integration &amp; Benchmark Relationship: </a:t>
            </a:r>
            <a:r>
              <a:rPr sz="1200">
                <a:solidFill>
                  <a:srgbClr val="334155"/>
                </a:solidFill>
                <a:latin typeface="Calibri"/>
              </a:rPr>
              <a:t>The 28-day sum is 47.50 mg absorbed, averaging 1.70 mg/day absorbed (21.2 mg/day dietary at 8% bioavailability for moderate flow, 23.8 mg/day for heavy flow). This sits between the 15.0 mg EAR (50th percentile) and the 29.0 mg RDA (97.5th percentile population coverage).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Five-Category Scientific Audit &amp; Evidence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1. Directly Supported by Authoritative Literature: </a:t>
            </a:r>
            <a:r>
              <a:rPr sz="1200">
                <a:solidFill>
                  <a:srgbClr val="334155"/>
                </a:solidFill>
                <a:latin typeface="Calibri"/>
              </a:rPr>
              <a:t>ICMR-NIN 2020 RDA tables (29.0 mg adult, 16/29/26 mg adolescent, 27 mg pregnancy @ 12% bioavailability, 15 mg post-menopausal), 8.0% Indian cereal-pulse baseline, and IFCT 2017 compositional assays.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2. Mathematically Derived from Published Data: </a:t>
            </a:r>
            <a:r>
              <a:rPr sz="1200">
                <a:solidFill>
                  <a:srgbClr val="334155"/>
                </a:solidFill>
                <a:latin typeface="Calibri"/>
              </a:rPr>
              <a:t>0.80 mg/day basal obligatory loss (Green et al. 14 µg/kg × 55 kg reference woman), mass-balance conversion equation (Target = Absorbed ÷ Bioavailability), 14.0% mixed diet tier (FAO/WHO 2004), and 25% heme midpoint.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3. NutriHer Project-Level Modelling Assumptions: </a:t>
            </a:r>
            <a:r>
              <a:rPr sz="1200">
                <a:solidFill>
                  <a:srgbClr val="334155"/>
                </a:solidFill>
                <a:latin typeface="Calibri"/>
              </a:rPr>
              <a:t>Menstrual phase need increments (+1.90, +0.90, +0.40, +0.60 mg), flow volume multipliers (0.75x, 1.00x, 1.35x), and 28-day dynamic cycle integration model (~21.2 mg/day typical moderate flow).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4 &amp; 5. Uncertain Evidence &amp; UI Choices: </a:t>
            </a:r>
            <a:r>
              <a:rPr sz="1200">
                <a:solidFill>
                  <a:srgbClr val="334155"/>
                </a:solidFill>
                <a:latin typeface="Calibri"/>
              </a:rPr>
              <a:t>Vitamin C (+2%/+5%) and Calcium (-2%) modulators in composite meals (evidence is limited/mixed; educational heuristics). UI choices: interactive portion weight sliders, Top-5 candidate cards, and pastel progress rings.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Experimental &amp; Empirical Evaluation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Deep Learning Classification Performance: </a:t>
            </a:r>
            <a:r>
              <a:rPr sz="1200">
                <a:solidFill>
                  <a:srgbClr val="334155"/>
                </a:solidFill>
                <a:latin typeface="Calibri"/>
              </a:rPr>
              <a:t>EfficientNet-B0 achieved 87.89% Top-1 validation accuracy and 96.4% Top-5 candidate retrieval accuracy across 80 diverse Indian cuisine classes evaluated on held-out test splits from 131,819 images.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Inference Latency &amp; Runtime Profiling: </a:t>
            </a:r>
            <a:r>
              <a:rPr sz="1200">
                <a:solidFill>
                  <a:srgbClr val="334155"/>
                </a:solidFill>
                <a:latin typeface="Calibri"/>
              </a:rPr>
              <a:t>Compact 5.3M parameter architecture executes single-image inference in 38–48 ms on standard multi-core CPU, providing rapid sub-100ms end-to-end response times across the FastAPI microservice.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Mathematical &amp; Cycle Integration Validation: </a:t>
            </a:r>
            <a:r>
              <a:rPr sz="1200">
                <a:solidFill>
                  <a:srgbClr val="334155"/>
                </a:solidFill>
                <a:latin typeface="Calibri"/>
              </a:rPr>
              <a:t>Automated verification suite confirmed 100% test pass across 7 test modules: exact 28-day cycle integration (47.50 mg absorbed, 1.70 mg/day mean, 21.2 mg/day dietary target), flow multipliers, and age bracket RDAs.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Bioavailability Boundary Verification: </a:t>
            </a:r>
            <a:r>
              <a:rPr sz="1200">
                <a:solidFill>
                  <a:srgbClr val="334155"/>
                </a:solidFill>
                <a:latin typeface="Calibri"/>
              </a:rPr>
              <a:t>Validated strict mathematical clamping preventing non-physiological edge cases: non-heme absorption strictly bounded between 3.0% and 18.0%, and heme absorption bounded between 15.0% and 35.0%.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Comparative Analysis: NutriHer vs. Existing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Vs. Commercial Calorie Trackers (MyFitnessPal, HealthifyMe): </a:t>
            </a:r>
            <a:r>
              <a:rPr sz="1200">
                <a:solidFill>
                  <a:srgbClr val="334155"/>
                </a:solidFill>
                <a:latin typeface="Calibri"/>
              </a:rPr>
              <a:t>Existing apps track raw milligrams assuming 100% bioavailability and static targets. NutriHer evaluates actual bioavailable absorption via non-heme (8%) and heme (25%) baselines with meal-level ascorbic acid and calcium modulators.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Vs. Menstrual Tracking Applications (Flo, Clue): </a:t>
            </a:r>
            <a:r>
              <a:rPr sz="1200">
                <a:solidFill>
                  <a:srgbClr val="334155"/>
                </a:solidFill>
                <a:latin typeface="Calibri"/>
              </a:rPr>
              <a:t>Period apps monitor dates and fertility symptoms but completely decouple menstrual biology from nutritional metabolism. NutriHer directly couples menstrual blood-loss stoichiometry with phase-specific daily dietary iron targets.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Vs. Generic Micronutrient Engines (Cronometer): </a:t>
            </a:r>
            <a:r>
              <a:rPr sz="1200">
                <a:solidFill>
                  <a:srgbClr val="334155"/>
                </a:solidFill>
                <a:latin typeface="Calibri"/>
              </a:rPr>
              <a:t>Western platforms rely on USDA tables lacking authentic Indian preparations and assume 18% Western bioavailability. NutriHer natively integrates ICMR-NIN IFCT 2017 data and models Indian vegetarian bioavailabilities (8%).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Scientific Transparency vs. Proprietary Black-Boxes: </a:t>
            </a:r>
            <a:r>
              <a:rPr sz="1200">
                <a:solidFill>
                  <a:srgbClr val="334155"/>
                </a:solidFill>
                <a:latin typeface="Calibri"/>
              </a:rPr>
              <a:t>Commercial apps utilize opaque algorithms. NutriHer exposes a fully documented 5-category evidence hierarchy, peer-reviewed citations, DOI links, and clinical non-diagnostic disclaimers.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Implementation Status &amp; Current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Computer Vision Subsystem (Completed &amp; Validated): </a:t>
            </a:r>
            <a:r>
              <a:rPr sz="1200">
                <a:solidFill>
                  <a:srgbClr val="334155"/>
                </a:solidFill>
                <a:latin typeface="Calibri"/>
              </a:rPr>
              <a:t>EfficientNet-B0 transfer-learned on 80 Indian cuisine classes; runtime checkpoint mapping fully synchronized; Top-5 candidate fallback exposed in UI for transparent disambiguation.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FastAPI Microservices Backend (Completed &amp; Operational): </a:t>
            </a:r>
            <a:r>
              <a:rPr sz="1200">
                <a:solidFill>
                  <a:srgbClr val="334155"/>
                </a:solidFill>
                <a:latin typeface="Calibri"/>
              </a:rPr>
              <a:t>Asynchronous Python endpoints operational for /predict, /nutrients, /absorption, /cycle, and /insights with dynamic lifecycle modes (Pregnancy, Lactation, Post-Menopausal, and 5 age brackets).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Interactive React/Vite Frontend (Completed &amp; Production-Ready): </a:t>
            </a:r>
            <a:r>
              <a:rPr sz="1200">
                <a:solidFill>
                  <a:srgbClr val="334155"/>
                </a:solidFill>
                <a:latin typeface="Calibri"/>
              </a:rPr>
              <a:t>Feminine editorial pastel aesthetic (Playfair Display, ceramic cards, glowing radial progress rings, phase timeline) compiling cleanly with Vite (0 errors, 2,319 transformed modules).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Evidence Matrix &amp; Automated Test Suite (Completed): </a:t>
            </a:r>
            <a:r>
              <a:rPr sz="1200">
                <a:solidFill>
                  <a:srgbClr val="334155"/>
                </a:solidFill>
                <a:latin typeface="Calibri"/>
              </a:rPr>
              <a:t>Integrated 5-category scientific matrix in UI and automated unit testing suite (test_scientific_validation.py) validating mass-balance formulas, boundary clamps, and IFCT scaling.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1239"/>
                </a:solidFill>
                <a:latin typeface="Arial"/>
              </a:defRPr>
            </a:pPr>
            <a:r>
              <a:t>NUTRIHER  |  AI-Assisted Women's Nutrition &amp; Bioavailable Iron Optimization</a:t>
            </a:r>
          </a:p>
          <a:p>
            <a:pPr>
              <a:spcBef>
                <a:spcPts val="400"/>
              </a:spcBef>
              <a:defRPr sz="2200" b="1">
                <a:solidFill>
                  <a:srgbClr val="1E1B4B"/>
                </a:solidFill>
                <a:latin typeface="Georgia"/>
              </a:defRPr>
            </a:pPr>
            <a:r>
              <a:t>Remaining Work, Technical Limitations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24160" y="640080"/>
            <a:ext cx="10058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6D28D9"/>
                </a:solidFill>
              </a:defRPr>
            </a:pPr>
            <a:r>
              <a:t>Slide 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88575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Multi-Food Plate Segmentation (Remaining / In-Progress Milestone): </a:t>
            </a:r>
            <a:r>
              <a:rPr sz="1200">
                <a:solidFill>
                  <a:srgbClr val="334155"/>
                </a:solidFill>
                <a:latin typeface="Calibri"/>
              </a:rPr>
              <a:t>Current system classifies the dominant single dish per image. Future development involves training YOLOv8/Mask R-CNN to segment and quantify multiple items on a composite Indian thali simultaneously.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Cloud Persistence &amp; Secure Authentication (Remaining Engineering Task): </a:t>
            </a:r>
            <a:r>
              <a:rPr sz="1200">
                <a:solidFill>
                  <a:srgbClr val="334155"/>
                </a:solidFill>
                <a:latin typeface="Calibri"/>
              </a:rPr>
              <a:t>NutriHer currently utilizes browser localStorage for profile and cycle state. Production deployment will implement PostgreSQL / Supabase with HIPAA-compliant user authentication and cloud synchronization.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Wearable Sensor &amp; Lab Biomarker Integration (Future Research): </a:t>
            </a:r>
            <a:r>
              <a:rPr sz="1200">
                <a:solidFill>
                  <a:srgbClr val="334155"/>
                </a:solidFill>
                <a:latin typeface="Calibri"/>
              </a:rPr>
              <a:t>Coupling wearable basal body temperature (BBT) sensors for biological phase confirmation, alongside tracking longitudinal serum ferritin, hemoglobin, and hepcidin laboratory assays.</a:t>
            </a:r>
          </a:p>
          <a:p>
            <a:pPr>
              <a:lnSpc>
                <a:spcPct val="115000"/>
              </a:lnSpc>
              <a:spcBef>
                <a:spcPts val="1000"/>
              </a:spcBef>
            </a:pPr>
            <a:r>
              <a:rPr b="1" sz="1300">
                <a:solidFill>
                  <a:srgbClr val="1E1B4B"/>
                </a:solidFill>
                <a:latin typeface="Arial"/>
              </a:rPr>
              <a:t>•  Dataset Expansion &amp; Longitudinal Clinical Pilot (Future Roadmap): </a:t>
            </a:r>
            <a:r>
              <a:rPr sz="1200">
                <a:solidFill>
                  <a:srgbClr val="334155"/>
                </a:solidFill>
                <a:latin typeface="Calibri"/>
              </a:rPr>
              <a:t>Expanding from 80 classes to 250+ regional Indian dishes, and conducting an IRB-approved pilot study with clinical nutritionists to measure dietary iron adherence and user hemoglobin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NutriHer Academic Research &amp; Engineering Demonstration  •  Evidence Base: ICMR-NIN 2020 RDA | IFCT 2017 | WHO/FAO 2004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